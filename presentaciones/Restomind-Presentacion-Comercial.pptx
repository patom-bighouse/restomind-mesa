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ción" id="{b1d599fa-8aca-0849-4272-8f39ea09ea99}">
          <p14:sldIdLst>
            <p14:sldId id="256"/>
          </p14:sldIdLst>
        </p14:section>
        <p14:section name="El problema y la solución" id="{3e1ed204-56d0-8579-bad6-fa73f9ef8c28}">
          <p14:sldIdLst>
            <p14:sldId id="257"/>
            <p14:sldId id="258"/>
            <p14:sldId id="259"/>
          </p14:sldIdLst>
        </p14:section>
        <p14:section name="Funcionalidades" id="{056c3239-bfa2-eb8c-5ebe-7055a0c18db4}">
          <p14:sldIdLst>
            <p14:sldId id="260"/>
            <p14:sldId id="261"/>
            <p14:sldId id="262"/>
          </p14:sldIdLst>
        </p14:section>
        <p14:section name="Planes" id="{b12d4301-2b59-5e81-f1e9-4c4c179a8166}">
          <p14:sldIdLst>
            <p14:sldId id="263"/>
            <p14:sldId id="264"/>
          </p14:sldIdLst>
        </p14:section>
        <p14:section name="Cierre" id="{5195c793-a6b5-fc3b-78bd-85fff1694da4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4415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chemeClr val="tx1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4415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chemeClr val="bg1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005840"/>
            <a:ext cx="3291840" cy="3291840"/>
          </a:xfrm>
          <a:prstGeom prst="ellipse">
            <a:avLst/>
          </a:prstGeom>
          <a:solidFill>
            <a:srgbClr val="D97744">
              <a:alpha val="14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84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Restomind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190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SOFTWARE DE GESTIÓN PARA RESTAURANTES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bg1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Restomind</a:t>
            </a:r>
            <a:endParaRPr lang="en-US" sz="8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86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chemeClr val="accent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sistema que conecta la mesa, la cocina y el negocio — sin aplicaciones que instalar.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6016752"/>
            <a:ext cx="91440" cy="91440"/>
          </a:xfrm>
          <a:prstGeom prst="ellipse">
            <a:avLst/>
          </a:prstGeom>
          <a:solidFill>
            <a:srgbClr val="D9774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86384" y="5943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84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Presentación comercial · Clientes y equipo de ventas</a:t>
            </a:r>
            <a:endParaRPr lang="en-US" sz="12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548640" y="749808"/>
            <a:ext cx="110944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POR QUÉ RESTOMIND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A6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Restomind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190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6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749808"/>
            <a:ext cx="110944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La gestión diaria tiene demasiadas piezas sueltas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2581580" cy="4023360"/>
          </a:xfrm>
          <a:prstGeom prst="roundRect">
            <a:avLst>
              <a:gd name="adj" fmla="val 4250"/>
            </a:avLst>
          </a:prstGeom>
          <a:solidFill>
            <a:srgbClr val="FFFDF9"/>
          </a:solidFill>
          <a:ln w="12700">
            <a:solidFill>
              <a:srgbClr val="E7DDC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350008"/>
            <a:ext cx="256032" cy="256032"/>
          </a:xfrm>
          <a:prstGeom prst="ellipse">
            <a:avLst/>
          </a:prstGeom>
          <a:solidFill>
            <a:srgbClr val="D977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48" y="2770632"/>
            <a:ext cx="19963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Comandas que se pierden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227832"/>
            <a:ext cx="199636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Papel y a viva voz entre sala y cocina: pedidos mal tomados, platos que se olvidan.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6252" y="2057400"/>
            <a:ext cx="2581580" cy="4023360"/>
          </a:xfrm>
          <a:prstGeom prst="roundRect">
            <a:avLst>
              <a:gd name="adj" fmla="val 4250"/>
            </a:avLst>
          </a:prstGeom>
          <a:solidFill>
            <a:srgbClr val="FFFDF9"/>
          </a:solidFill>
          <a:ln w="12700">
            <a:solidFill>
              <a:srgbClr val="E7DD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78860" y="2350008"/>
            <a:ext cx="256032" cy="256032"/>
          </a:xfrm>
          <a:prstGeom prst="ellipse">
            <a:avLst/>
          </a:prstGeom>
          <a:solidFill>
            <a:srgbClr val="2F5A5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78860" y="2770632"/>
            <a:ext cx="19963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Decisiones a ciegas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78860" y="3227832"/>
            <a:ext cx="199636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 datos de venta, de tiempos de cocina ni de ocupación, cada decisión se toma por intuición.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2057400"/>
            <a:ext cx="2581580" cy="4023360"/>
          </a:xfrm>
          <a:prstGeom prst="roundRect">
            <a:avLst>
              <a:gd name="adj" fmla="val 4250"/>
            </a:avLst>
          </a:prstGeom>
          <a:solidFill>
            <a:srgbClr val="FFFDF9"/>
          </a:solidFill>
          <a:ln w="12700">
            <a:solidFill>
              <a:srgbClr val="E7DDC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16472" y="2350008"/>
            <a:ext cx="256032" cy="256032"/>
          </a:xfrm>
          <a:prstGeom prst="ellipse">
            <a:avLst/>
          </a:prstGeom>
          <a:solidFill>
            <a:srgbClr val="D9774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16472" y="2770632"/>
            <a:ext cx="19963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Reservas sin respaldo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516472" y="3227832"/>
            <a:ext cx="199636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Reservas y pedidos por WhatsApp gestionados uno a uno, a mano, con riesgo real de ocupar la misma mesa dos veces.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61475" y="2057400"/>
            <a:ext cx="2581580" cy="4023360"/>
          </a:xfrm>
          <a:prstGeom prst="roundRect">
            <a:avLst>
              <a:gd name="adj" fmla="val 4250"/>
            </a:avLst>
          </a:prstGeom>
          <a:solidFill>
            <a:srgbClr val="FFFDF9"/>
          </a:solidFill>
          <a:ln w="12700">
            <a:solidFill>
              <a:srgbClr val="E7DD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54083" y="2350008"/>
            <a:ext cx="256032" cy="256032"/>
          </a:xfrm>
          <a:prstGeom prst="ellipse">
            <a:avLst/>
          </a:prstGeom>
          <a:solidFill>
            <a:srgbClr val="2F5A5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354083" y="2770632"/>
            <a:ext cx="19963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Clientes sin fidelizar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354083" y="3227832"/>
            <a:ext cx="199636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 un programa que los retenga, cada visita corre el riesgo de ser también la última.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CÓMO FUNCIONA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A6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Restomind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190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6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749808"/>
            <a:ext cx="110944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Un solo sistema para todo el recorrido del cliente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2218106" cy="3566160"/>
          </a:xfrm>
          <a:prstGeom prst="roundRect">
            <a:avLst>
              <a:gd name="adj" fmla="val 4947"/>
            </a:avLst>
          </a:prstGeom>
          <a:solidFill>
            <a:srgbClr val="FFFDF9"/>
          </a:solidFill>
          <a:ln w="12700">
            <a:solidFill>
              <a:srgbClr val="E7DDC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331720"/>
            <a:ext cx="1669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43200"/>
            <a:ext cx="16694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Escanea y pide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64408"/>
            <a:ext cx="1669466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cliente escanea el QR de su mesa y pide desde el móvil, sin descargar nada.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31338" y="3675888"/>
            <a:ext cx="411480" cy="329184"/>
          </a:xfrm>
          <a:prstGeom prst="chevron">
            <a:avLst/>
          </a:prstGeom>
          <a:solidFill>
            <a:srgbClr val="2F5A52"/>
          </a:solidFill>
          <a:ln/>
        </p:spPr>
      </p:sp>
      <p:sp>
        <p:nvSpPr>
          <p:cNvPr id="11" name="Shape 9"/>
          <p:cNvSpPr/>
          <p:nvPr/>
        </p:nvSpPr>
        <p:spPr>
          <a:xfrm>
            <a:off x="3507410" y="2057400"/>
            <a:ext cx="2218106" cy="3566160"/>
          </a:xfrm>
          <a:prstGeom prst="roundRect">
            <a:avLst>
              <a:gd name="adj" fmla="val 4947"/>
            </a:avLst>
          </a:prstGeom>
          <a:solidFill>
            <a:srgbClr val="FFFDF9"/>
          </a:solidFill>
          <a:ln w="12700">
            <a:solidFill>
              <a:srgbClr val="E7DDC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81730" y="2331720"/>
            <a:ext cx="1669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781730" y="2743200"/>
            <a:ext cx="16694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Llega a cocina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781730" y="3264408"/>
            <a:ext cx="1669466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comanda entra en tiempo real, organizada por sector: parrilla, fría, postres.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90108" y="3675888"/>
            <a:ext cx="411480" cy="329184"/>
          </a:xfrm>
          <a:prstGeom prst="chevron">
            <a:avLst/>
          </a:prstGeom>
          <a:solidFill>
            <a:srgbClr val="2F5A52"/>
          </a:solidFill>
          <a:ln/>
        </p:spPr>
      </p:sp>
      <p:sp>
        <p:nvSpPr>
          <p:cNvPr id="16" name="Shape 14"/>
          <p:cNvSpPr/>
          <p:nvPr/>
        </p:nvSpPr>
        <p:spPr>
          <a:xfrm>
            <a:off x="6466180" y="2057400"/>
            <a:ext cx="2218106" cy="3566160"/>
          </a:xfrm>
          <a:prstGeom prst="roundRect">
            <a:avLst>
              <a:gd name="adj" fmla="val 4947"/>
            </a:avLst>
          </a:prstGeom>
          <a:solidFill>
            <a:srgbClr val="FFFDF9"/>
          </a:solidFill>
          <a:ln w="12700">
            <a:solidFill>
              <a:srgbClr val="E7DDC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40500" y="2331720"/>
            <a:ext cx="1669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740500" y="2743200"/>
            <a:ext cx="16694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camarero resuelve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740500" y="3264408"/>
            <a:ext cx="1669466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Gestiona la mesa y prepara la cuenta dividida por comensal, desde su propio PIN.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848877" y="3675888"/>
            <a:ext cx="411480" cy="329184"/>
          </a:xfrm>
          <a:prstGeom prst="chevron">
            <a:avLst/>
          </a:prstGeom>
          <a:solidFill>
            <a:srgbClr val="2F5A52"/>
          </a:solidFill>
          <a:ln/>
        </p:spPr>
      </p:sp>
      <p:sp>
        <p:nvSpPr>
          <p:cNvPr id="21" name="Shape 19"/>
          <p:cNvSpPr/>
          <p:nvPr/>
        </p:nvSpPr>
        <p:spPr>
          <a:xfrm>
            <a:off x="9424949" y="2057400"/>
            <a:ext cx="2218106" cy="3566160"/>
          </a:xfrm>
          <a:prstGeom prst="roundRect">
            <a:avLst>
              <a:gd name="adj" fmla="val 4947"/>
            </a:avLst>
          </a:prstGeom>
          <a:solidFill>
            <a:srgbClr val="FFFDF9"/>
          </a:solidFill>
          <a:ln w="12700">
            <a:solidFill>
              <a:srgbClr val="E7DDC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99269" y="2331720"/>
            <a:ext cx="1669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699269" y="2743200"/>
            <a:ext cx="16694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dueño ve todo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699269" y="3264408"/>
            <a:ext cx="1669466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pedido alimenta el panel: ventas, tiempos, stock y fidelización en vivo.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5394960"/>
            <a:ext cx="2377440" cy="2377440"/>
          </a:xfrm>
          <a:prstGeom prst="ellipse">
            <a:avLst/>
          </a:prstGeom>
          <a:solidFill>
            <a:srgbClr val="2F5A52">
              <a:alpha val="2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POR QUÉ ES DISTINTO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84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Restomind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11535" y="64190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84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749808"/>
            <a:ext cx="110944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Pensado para restaurantes reales, no una demo bonita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274320" cy="274320"/>
          </a:xfrm>
          <a:prstGeom prst="ellipse">
            <a:avLst/>
          </a:prstGeom>
          <a:solidFill>
            <a:srgbClr val="8FC9B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523744"/>
            <a:ext cx="531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Datos realmente aislados por restaurante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063240"/>
            <a:ext cx="5318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restaurante vive en su propio compartimento: ningún dueño puede ver ni tocar los datos de otro.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24448" y="2103120"/>
            <a:ext cx="274320" cy="274320"/>
          </a:xfrm>
          <a:prstGeom prst="ellipse">
            <a:avLst/>
          </a:prstGeom>
          <a:solidFill>
            <a:srgbClr val="8FC9B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24448" y="2523744"/>
            <a:ext cx="531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Cero sobreventa de mesas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324448" y="3063240"/>
            <a:ext cx="5318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bloqueo a nivel de base de datos impide que dos reservas —o el agente de WhatsApp y el panel a la vez— confirmen la misma mesa.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274320" cy="274320"/>
          </a:xfrm>
          <a:prstGeom prst="ellipse">
            <a:avLst/>
          </a:prstGeom>
          <a:solidFill>
            <a:srgbClr val="8FC9B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672584"/>
            <a:ext cx="531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Permisos reales, no botones ocultos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212080"/>
            <a:ext cx="5318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PIN de camarero tiene permisos verificados en el servidor, no solo escondidos en la pantalla.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24448" y="4251960"/>
            <a:ext cx="274320" cy="274320"/>
          </a:xfrm>
          <a:prstGeom prst="ellipse">
            <a:avLst/>
          </a:prstGeom>
          <a:solidFill>
            <a:srgbClr val="8FC9B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24448" y="4672584"/>
            <a:ext cx="531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Datos que se cargan solos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324448" y="5212080"/>
            <a:ext cx="5318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Los tiempos de cocina y de servicio se miden automáticamente, sin que nadie tenga que anotar nada.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FUNCIONALIDADES — OPERACIÓN DIARIA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A6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Restomind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190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6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749808"/>
            <a:ext cx="110944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Todo lo que pasa en la sala y en la cocina, coordinado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2581580" cy="4023360"/>
          </a:xfrm>
          <a:prstGeom prst="roundRect">
            <a:avLst>
              <a:gd name="adj" fmla="val 4250"/>
            </a:avLst>
          </a:prstGeom>
          <a:solidFill>
            <a:srgbClr val="FFFDF9"/>
          </a:solidFill>
          <a:ln w="12700">
            <a:solidFill>
              <a:srgbClr val="E7DDC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350008"/>
            <a:ext cx="256032" cy="256032"/>
          </a:xfrm>
          <a:prstGeom prst="ellipse">
            <a:avLst/>
          </a:prstGeom>
          <a:solidFill>
            <a:srgbClr val="2F5A5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48" y="2770632"/>
            <a:ext cx="19963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Mesas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227832"/>
            <a:ext cx="199636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Plano de sala visual, QR por mesa, cuenta dividida por comensal y checklist de limpieza entre turnos.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6252" y="2057400"/>
            <a:ext cx="2581580" cy="4023360"/>
          </a:xfrm>
          <a:prstGeom prst="roundRect">
            <a:avLst>
              <a:gd name="adj" fmla="val 4250"/>
            </a:avLst>
          </a:prstGeom>
          <a:solidFill>
            <a:srgbClr val="FFFDF9"/>
          </a:solidFill>
          <a:ln w="12700">
            <a:solidFill>
              <a:srgbClr val="E7DD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78860" y="2350008"/>
            <a:ext cx="256032" cy="256032"/>
          </a:xfrm>
          <a:prstGeom prst="ellipse">
            <a:avLst/>
          </a:prstGeom>
          <a:solidFill>
            <a:srgbClr val="D9774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78860" y="2770632"/>
            <a:ext cx="19963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Carta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78860" y="3227832"/>
            <a:ext cx="199636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Alérgenos, modificadores, varios idiomas y varios menús según el horario o la zona.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2057400"/>
            <a:ext cx="2581580" cy="4023360"/>
          </a:xfrm>
          <a:prstGeom prst="roundRect">
            <a:avLst>
              <a:gd name="adj" fmla="val 4250"/>
            </a:avLst>
          </a:prstGeom>
          <a:solidFill>
            <a:srgbClr val="FFFDF9"/>
          </a:solidFill>
          <a:ln w="12700">
            <a:solidFill>
              <a:srgbClr val="E7DDC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16472" y="2350008"/>
            <a:ext cx="256032" cy="256032"/>
          </a:xfrm>
          <a:prstGeom prst="ellipse">
            <a:avLst/>
          </a:prstGeom>
          <a:solidFill>
            <a:srgbClr val="2F5A5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16472" y="2770632"/>
            <a:ext cx="19963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Cocina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516472" y="3227832"/>
            <a:ext cx="199636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Tablero en tiempo real por sectores, con aviso sonoro y estados de pedido claros.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61475" y="2057400"/>
            <a:ext cx="2581580" cy="4023360"/>
          </a:xfrm>
          <a:prstGeom prst="roundRect">
            <a:avLst>
              <a:gd name="adj" fmla="val 4250"/>
            </a:avLst>
          </a:prstGeom>
          <a:solidFill>
            <a:srgbClr val="FFFDF9"/>
          </a:solidFill>
          <a:ln w="12700">
            <a:solidFill>
              <a:srgbClr val="E7DD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54083" y="2350008"/>
            <a:ext cx="256032" cy="256032"/>
          </a:xfrm>
          <a:prstGeom prst="ellipse">
            <a:avLst/>
          </a:prstGeom>
          <a:solidFill>
            <a:srgbClr val="D9774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354083" y="2770632"/>
            <a:ext cx="19963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Camarero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354083" y="3227832"/>
            <a:ext cx="199636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Acceso por PIN con permisos propios, sin necesitar una cuenta para cada persona del equipo.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FUNCIONALIDADES — INTELIGENCIA DE NEGOCIO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A6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Restomind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190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6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749808"/>
            <a:ext cx="110944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Datos que convierten cada turno en una decisión mejor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2581580" cy="4023360"/>
          </a:xfrm>
          <a:prstGeom prst="roundRect">
            <a:avLst>
              <a:gd name="adj" fmla="val 4250"/>
            </a:avLst>
          </a:prstGeom>
          <a:solidFill>
            <a:srgbClr val="FFFDF9"/>
          </a:solidFill>
          <a:ln w="12700">
            <a:solidFill>
              <a:srgbClr val="E7DDC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350008"/>
            <a:ext cx="256032" cy="256032"/>
          </a:xfrm>
          <a:prstGeom prst="ellipse">
            <a:avLst/>
          </a:prstGeom>
          <a:solidFill>
            <a:srgbClr val="2F5A5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48" y="2770632"/>
            <a:ext cx="19963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227832"/>
            <a:ext cx="199636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Facturación, ticket medio, tiempos de cocina y servicio, platos más vendidos y rentabilidad real por producto.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6252" y="2057400"/>
            <a:ext cx="2581580" cy="4023360"/>
          </a:xfrm>
          <a:prstGeom prst="roundRect">
            <a:avLst>
              <a:gd name="adj" fmla="val 4250"/>
            </a:avLst>
          </a:prstGeom>
          <a:solidFill>
            <a:srgbClr val="FFFDF9"/>
          </a:solidFill>
          <a:ln w="12700">
            <a:solidFill>
              <a:srgbClr val="E7DD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78860" y="2350008"/>
            <a:ext cx="256032" cy="256032"/>
          </a:xfrm>
          <a:prstGeom prst="ellipse">
            <a:avLst/>
          </a:prstGeom>
          <a:solidFill>
            <a:srgbClr val="D9774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78860" y="2770632"/>
            <a:ext cx="19963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Stock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78860" y="3227832"/>
            <a:ext cx="199636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Descuento automático de ingredientes por pedido y alertas cuando algo está por agotarse.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2057400"/>
            <a:ext cx="2581580" cy="4023360"/>
          </a:xfrm>
          <a:prstGeom prst="roundRect">
            <a:avLst>
              <a:gd name="adj" fmla="val 4250"/>
            </a:avLst>
          </a:prstGeom>
          <a:solidFill>
            <a:srgbClr val="FFFDF9"/>
          </a:solidFill>
          <a:ln w="12700">
            <a:solidFill>
              <a:srgbClr val="E7DDC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16472" y="2350008"/>
            <a:ext cx="256032" cy="256032"/>
          </a:xfrm>
          <a:prstGeom prst="ellipse">
            <a:avLst/>
          </a:prstGeom>
          <a:solidFill>
            <a:srgbClr val="2F5A5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16472" y="2770632"/>
            <a:ext cx="19963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Fidelización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516472" y="3227832"/>
            <a:ext cx="199636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Niveles por gasto acumulado, tarjeta de sellos y vales canjeables que hacen que el cliente vuelva.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61475" y="2057400"/>
            <a:ext cx="2581580" cy="4023360"/>
          </a:xfrm>
          <a:prstGeom prst="roundRect">
            <a:avLst>
              <a:gd name="adj" fmla="val 4250"/>
            </a:avLst>
          </a:prstGeom>
          <a:solidFill>
            <a:srgbClr val="FFFDF9"/>
          </a:solidFill>
          <a:ln w="12700">
            <a:solidFill>
              <a:srgbClr val="E7DD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54083" y="2350008"/>
            <a:ext cx="256032" cy="256032"/>
          </a:xfrm>
          <a:prstGeom prst="ellipse">
            <a:avLst/>
          </a:prstGeom>
          <a:solidFill>
            <a:srgbClr val="D9774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354083" y="2770632"/>
            <a:ext cx="19963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Clientes (CRM)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354083" y="3227832"/>
            <a:ext cx="199636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Ficha de cada cliente con gasto acumulado, puntos de fidelización y última visita.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FUNCIONALIDADES — NUEVOS CANALES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A6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Restomind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190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6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749808"/>
            <a:ext cx="110944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El restaurante también atiende fuera del local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490874" cy="4023360"/>
          </a:xfrm>
          <a:prstGeom prst="roundRect">
            <a:avLst>
              <a:gd name="adj" fmla="val 3143"/>
            </a:avLst>
          </a:prstGeom>
          <a:solidFill>
            <a:srgbClr val="FFFDF9"/>
          </a:solidFill>
          <a:ln w="12700">
            <a:solidFill>
              <a:srgbClr val="E7DDC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350008"/>
            <a:ext cx="256032" cy="256032"/>
          </a:xfrm>
          <a:prstGeom prst="ellipse">
            <a:avLst/>
          </a:prstGeom>
          <a:solidFill>
            <a:srgbClr val="2F5A5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48" y="2770632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Agente de WhatsApp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227832"/>
            <a:ext cx="2905658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Responde consultas, toma reservas y pedidos para llevar por WhatsApp — siempre confirmando antes de dar nada por hecho.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50410" y="2057400"/>
            <a:ext cx="3490874" cy="4023360"/>
          </a:xfrm>
          <a:prstGeom prst="roundRect">
            <a:avLst>
              <a:gd name="adj" fmla="val 3143"/>
            </a:avLst>
          </a:prstGeom>
          <a:solidFill>
            <a:srgbClr val="FFFDF9"/>
          </a:solidFill>
          <a:ln w="12700">
            <a:solidFill>
              <a:srgbClr val="E7DD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43018" y="2350008"/>
            <a:ext cx="256032" cy="256032"/>
          </a:xfrm>
          <a:prstGeom prst="ellipse">
            <a:avLst/>
          </a:prstGeom>
          <a:solidFill>
            <a:srgbClr val="D9774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43018" y="2770632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Reservas públicas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43018" y="3227832"/>
            <a:ext cx="2905658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Una página de reservas propia, conectada en vivo a la disponibilidad real de las mesas.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52181" y="2057400"/>
            <a:ext cx="3490874" cy="4023360"/>
          </a:xfrm>
          <a:prstGeom prst="roundRect">
            <a:avLst>
              <a:gd name="adj" fmla="val 3143"/>
            </a:avLst>
          </a:prstGeom>
          <a:solidFill>
            <a:srgbClr val="FFFDF9"/>
          </a:solidFill>
          <a:ln w="12700">
            <a:solidFill>
              <a:srgbClr val="E7DDC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44789" y="2350008"/>
            <a:ext cx="256032" cy="256032"/>
          </a:xfrm>
          <a:prstGeom prst="ellipse">
            <a:avLst/>
          </a:prstGeom>
          <a:solidFill>
            <a:srgbClr val="2F5A5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44789" y="2770632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Webhooks e integraciones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444789" y="3227832"/>
            <a:ext cx="2905658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chemeClr val="accent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Avisa a Slack, un ERP o cualquier sistema propio cada vez que entra un pedido, un pago o una reserva.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PLANES DE SUSCRIPCIÓN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A6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Restomind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190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6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749808"/>
            <a:ext cx="110944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Tres planes acumulativos, una cuota fija — sin comisión por pedido ni por reserva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4415" cy="914400"/>
        </p:xfrm>
        <a:graphic>
          <a:graphicData uri="http://schemas.openxmlformats.org/drawingml/2006/table">
            <a:tbl>
              <a:tblPr/>
              <a:tblGrid>
                <a:gridCol w="3977640"/>
                <a:gridCol w="2130552"/>
                <a:gridCol w="2130552"/>
                <a:gridCol w="21305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Básico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Profesional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Premium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A5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4191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Precio mensual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A8502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35€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A8502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89€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A8502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169€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191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Mesas, cocina, carta y cobro QR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5A52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5A52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5A52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E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191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Dashboard y reportes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A7A6D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5A52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5A52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191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Stock, reservas y multi-idioma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A7A6D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5A52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5A52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E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191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Equipo con permisos (PIN)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A7A6D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5A52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5A52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191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Fidelización y marketing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A7A6D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5A52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5A52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E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191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Agente de WhatsApp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A7A6D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A7A6D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5A52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191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Take away y delivery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A7A6D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A7A6D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5A52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E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191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Webhooks e integraciones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A7A6D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A7A6D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5A52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1915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Dominio y marca propia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A7A6D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A7A6D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5A52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E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¿QUÉ PLAN CONVIENE?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A6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Restomind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190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6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749808"/>
            <a:ext cx="110944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Depende del tamaño y la ambición del restaurante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490874" cy="4023360"/>
          </a:xfrm>
          <a:prstGeom prst="roundRect">
            <a:avLst>
              <a:gd name="adj" fmla="val 3143"/>
            </a:avLst>
          </a:prstGeom>
          <a:solidFill>
            <a:srgbClr val="FFFDF9"/>
          </a:solidFill>
          <a:ln w="12700">
            <a:solidFill>
              <a:srgbClr val="E7DDC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350008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A850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Básico · 35€/mes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734056"/>
            <a:ext cx="290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4191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 digitalizar la sala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264408"/>
            <a:ext cx="2905658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4B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Bar o restaurante pequeño que quiere dejar el papel atrás: pedido por QR, cocina coordinada y cobro, sin pagar por nada que no va a usar.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50410" y="2057400"/>
            <a:ext cx="3490874" cy="4023360"/>
          </a:xfrm>
          <a:prstGeom prst="roundRect">
            <a:avLst>
              <a:gd name="adj" fmla="val 3143"/>
            </a:avLst>
          </a:prstGeom>
          <a:solidFill>
            <a:srgbClr val="FFFDF9"/>
          </a:solidFill>
          <a:ln w="25400">
            <a:solidFill>
              <a:srgbClr val="2F5A5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43018" y="2350008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2F5A5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Profesional · 89€/mes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643018" y="2734056"/>
            <a:ext cx="290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4191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 decidir con datos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43018" y="3264408"/>
            <a:ext cx="2905658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4B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salto natural cuando el dueño quiere ver qué funciona: reportes, stock, reservas, equipo con permisos y un programa de fidelización real.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52181" y="2057400"/>
            <a:ext cx="3490874" cy="4023360"/>
          </a:xfrm>
          <a:prstGeom prst="roundRect">
            <a:avLst>
              <a:gd name="adj" fmla="val 3143"/>
            </a:avLst>
          </a:prstGeom>
          <a:solidFill>
            <a:srgbClr val="FFFDF9"/>
          </a:solidFill>
          <a:ln w="12700">
            <a:solidFill>
              <a:srgbClr val="E7DDC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44789" y="2350008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A850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Premium · 169€/mes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444789" y="2734056"/>
            <a:ext cx="290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4191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 crecer y automatizar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44789" y="3264408"/>
            <a:ext cx="2905658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4B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 quien quiere reservas y pedidos por WhatsApp, vender también para llevar, integrarse con otros sistemas y presentarse con dominio propio.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914400"/>
            <a:ext cx="2926080" cy="2926080"/>
          </a:xfrm>
          <a:prstGeom prst="ellipse">
            <a:avLst/>
          </a:prstGeom>
          <a:solidFill>
            <a:srgbClr val="D97744">
              <a:alpha val="16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PRÓXIMOS PASOS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84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Restomind · [añadir datos de contacto comercial]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11535" y="64190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84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749808"/>
            <a:ext cx="110944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Pongamos a andar tu restaurante en Restomind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317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chemeClr val="accent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Cuota fija y acumulativa, sin comisión por pedido ni por reserva, y alta en pocos días.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6675120" cy="777240"/>
          </a:xfrm>
          <a:prstGeom prst="roundRect">
            <a:avLst>
              <a:gd name="adj" fmla="val 11765"/>
            </a:avLst>
          </a:prstGeom>
          <a:solidFill>
            <a:srgbClr val="D9774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154680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Agenda una demo con tu propia carta y tus propias mesas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stomind">
  <a:themeElements>
    <a:clrScheme name="Restomind">
      <a:dk1>
        <a:srgbClr val="241915"/>
      </a:dk1>
      <a:lt1>
        <a:srgbClr val="FBF7F2"/>
      </a:lt1>
      <a:dk2>
        <a:srgbClr val="2F5A52"/>
      </a:dk2>
      <a:lt2>
        <a:srgbClr val="F3ECE2"/>
      </a:lt2>
      <a:accent1>
        <a:srgbClr val="D97744"/>
      </a:accent1>
      <a:accent2>
        <a:srgbClr val="A8502A"/>
      </a:accent2>
      <a:accent3>
        <a:srgbClr val="F0A878"/>
      </a:accent3>
      <a:accent4>
        <a:srgbClr val="8FC9BB"/>
      </a:accent4>
      <a:accent5>
        <a:srgbClr val="5C4B42"/>
      </a:accent5>
      <a:accent6>
        <a:srgbClr val="D9C9BC"/>
      </a:accent6>
      <a:hlink>
        <a:srgbClr val="D97744"/>
      </a:hlink>
      <a:folHlink>
        <a:srgbClr val="A8502A"/>
      </a:folHlink>
    </a:clrScheme>
    <a:fontScheme name="Restomind">
      <a:majorFont>
        <a:latin typeface="Fraunce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2026-10-24T22:13:32Z</dcterms:created>
  <dcterms:modified xsi:type="dcterms:W3CDTF">2026-10-24T22:13:32Z</dcterms:modified>
</cp:coreProperties>
</file>